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/>
              <a:t>Project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i="1" dirty="0" smtClean="0"/>
              <a:t>Project </a:t>
            </a:r>
            <a:r>
              <a:rPr lang="en-US" b="1" dirty="0" smtClean="0"/>
              <a:t>Title-</a:t>
            </a:r>
            <a:r>
              <a:rPr lang="en-US" b="1" i="1" dirty="0" smtClean="0"/>
              <a:t> </a:t>
            </a:r>
            <a:r>
              <a:rPr lang="en-US" b="1" dirty="0" smtClean="0"/>
              <a:t>Amharic Language </a:t>
            </a:r>
            <a:r>
              <a:rPr lang="en-US" b="1" dirty="0"/>
              <a:t>IR </a:t>
            </a:r>
            <a:r>
              <a:rPr lang="en-US" b="1" dirty="0" smtClean="0"/>
              <a:t>System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 err="1"/>
              <a:t>Tsegay</a:t>
            </a:r>
            <a:r>
              <a:rPr lang="en-US" b="1" dirty="0"/>
              <a:t> </a:t>
            </a:r>
            <a:r>
              <a:rPr lang="en-US" b="1" dirty="0" err="1" smtClean="0"/>
              <a:t>Assefa</a:t>
            </a:r>
            <a:r>
              <a:rPr lang="en-US" b="1" dirty="0" smtClean="0"/>
              <a:t>    UGR/3204/16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Department of Information </a:t>
            </a:r>
            <a:r>
              <a:rPr lang="en-US" dirty="0" smtClean="0"/>
              <a:t>Sciences  </a:t>
            </a:r>
            <a:r>
              <a:rPr lang="en-US" b="1" dirty="0" smtClean="0"/>
              <a:t>Sec-2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College of Natural and Computational Sciences</a:t>
            </a:r>
            <a:br>
              <a:rPr lang="en-US" dirty="0"/>
            </a:br>
            <a:r>
              <a:rPr lang="en-US" dirty="0"/>
              <a:t>June 11, 2025</a:t>
            </a:r>
          </a:p>
        </p:txBody>
      </p:sp>
    </p:spTree>
    <p:extLst>
      <p:ext uri="{BB962C8B-B14F-4D97-AF65-F5344CB8AC3E}">
        <p14:creationId xmlns:p14="http://schemas.microsoft.com/office/powerpoint/2010/main" val="368791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Purpose of the Project 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System Architecture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Text Preprocessing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Statistical</a:t>
            </a:r>
            <a:r>
              <a:rPr lang="en-US" dirty="0" smtClean="0"/>
              <a:t> </a:t>
            </a:r>
            <a:r>
              <a:rPr lang="en-US" dirty="0"/>
              <a:t>Analysis and </a:t>
            </a:r>
            <a:r>
              <a:rPr lang="en-US" dirty="0" err="1"/>
              <a:t>Zipf’s</a:t>
            </a:r>
            <a:r>
              <a:rPr lang="en-US" dirty="0"/>
              <a:t> </a:t>
            </a:r>
            <a:r>
              <a:rPr lang="en-US" dirty="0" smtClean="0"/>
              <a:t>Law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Indexing </a:t>
            </a:r>
            <a:r>
              <a:rPr lang="en-US" dirty="0"/>
              <a:t>and </a:t>
            </a:r>
            <a:r>
              <a:rPr lang="en-US" dirty="0" err="1"/>
              <a:t>Luhn’s</a:t>
            </a:r>
            <a:r>
              <a:rPr lang="en-US" dirty="0"/>
              <a:t> </a:t>
            </a:r>
            <a:r>
              <a:rPr lang="en-US" dirty="0" smtClean="0"/>
              <a:t>Idea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Indexing </a:t>
            </a:r>
            <a:r>
              <a:rPr lang="en-US" dirty="0" smtClean="0"/>
              <a:t>File(inverted file)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Retrieval Model</a:t>
            </a:r>
            <a:r>
              <a:rPr lang="en-US" dirty="0"/>
              <a:t> (VSM)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Graphical </a:t>
            </a:r>
            <a:r>
              <a:rPr lang="en-US" dirty="0"/>
              <a:t>User </a:t>
            </a:r>
            <a:r>
              <a:rPr lang="en-US" dirty="0" smtClean="0"/>
              <a:t>Interface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Evaluation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Applications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Challenges </a:t>
            </a:r>
            <a:r>
              <a:rPr lang="en-US" dirty="0"/>
              <a:t>and </a:t>
            </a:r>
            <a:r>
              <a:rPr lang="en-US" dirty="0" smtClean="0"/>
              <a:t>Solutions</a:t>
            </a:r>
          </a:p>
        </p:txBody>
      </p:sp>
    </p:spTree>
    <p:extLst>
      <p:ext uri="{BB962C8B-B14F-4D97-AF65-F5344CB8AC3E}">
        <p14:creationId xmlns:p14="http://schemas.microsoft.com/office/powerpoint/2010/main" val="103243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 smtClean="0"/>
              <a:t>Amharic IR </a:t>
            </a:r>
            <a:r>
              <a:rPr lang="en-US" b="1" dirty="0"/>
              <a:t>System </a:t>
            </a:r>
            <a:r>
              <a:rPr lang="en-US" dirty="0" smtClean="0"/>
              <a:t>is </a:t>
            </a:r>
            <a:r>
              <a:rPr lang="en-US" dirty="0"/>
              <a:t>a mini IR system designed to process and retrieve Amharic text documents using the Vector Space Model (VSM) 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b="1" dirty="0"/>
              <a:t>Language:</a:t>
            </a:r>
            <a:r>
              <a:rPr lang="en-US" dirty="0"/>
              <a:t> Amharic, Ethiopia’s official language, uses Fidel script with rich morphology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Objective:</a:t>
            </a:r>
            <a:r>
              <a:rPr lang="en-US" dirty="0"/>
              <a:t> Address lack of Amharic-specific IR tools for efficient document retrieval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Features:</a:t>
            </a:r>
            <a:r>
              <a:rPr lang="en-US" dirty="0"/>
              <a:t> Preprocessing, indexing, statistical analysis (</a:t>
            </a:r>
            <a:r>
              <a:rPr lang="en-US" dirty="0" err="1"/>
              <a:t>Zipf’s</a:t>
            </a:r>
            <a:r>
              <a:rPr lang="en-US" dirty="0"/>
              <a:t> law), user-friendly GUI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System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b="1" dirty="0"/>
              <a:t>Lack of </a:t>
            </a:r>
            <a:r>
              <a:rPr lang="en-US" b="1" dirty="0" smtClean="0"/>
              <a:t>Tools -</a:t>
            </a:r>
            <a:r>
              <a:rPr lang="en-US" dirty="0" smtClean="0"/>
              <a:t> </a:t>
            </a:r>
            <a:r>
              <a:rPr lang="en-US" dirty="0"/>
              <a:t>Most IR systems target English, neglecting Amharic’s script and </a:t>
            </a:r>
            <a:r>
              <a:rPr lang="en-US" dirty="0" smtClean="0"/>
              <a:t>morphology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Information Overload - </a:t>
            </a:r>
            <a:r>
              <a:rPr lang="en-US" dirty="0" smtClean="0"/>
              <a:t>Growing </a:t>
            </a:r>
            <a:r>
              <a:rPr lang="en-US" dirty="0"/>
              <a:t>digital Amharic content (news, books) requires efficient </a:t>
            </a:r>
            <a:r>
              <a:rPr lang="en-US" dirty="0" smtClean="0"/>
              <a:t>search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Linguistic Challenges - </a:t>
            </a:r>
            <a:r>
              <a:rPr lang="en-US" dirty="0" smtClean="0"/>
              <a:t>Rich </a:t>
            </a:r>
            <a:r>
              <a:rPr lang="en-US" dirty="0"/>
              <a:t>morphology and limited resources hinder </a:t>
            </a:r>
            <a:r>
              <a:rPr lang="en-US" dirty="0" smtClean="0"/>
              <a:t>processing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/>
              <a:t>Statistical Insights - </a:t>
            </a:r>
            <a:r>
              <a:rPr lang="en-US" dirty="0" err="1" smtClean="0"/>
              <a:t>Zipf’s</a:t>
            </a:r>
            <a:r>
              <a:rPr lang="en-US" dirty="0" smtClean="0"/>
              <a:t> </a:t>
            </a:r>
            <a:r>
              <a:rPr lang="en-US" dirty="0"/>
              <a:t>law helps analyze corpus and optimize retrieval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10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/>
              <a:t>Components</a:t>
            </a:r>
            <a:endParaRPr lang="en-US" dirty="0"/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 Text Preprocessing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Frequency </a:t>
            </a:r>
            <a:r>
              <a:rPr lang="en-US" dirty="0"/>
              <a:t>Analysis and </a:t>
            </a:r>
            <a:r>
              <a:rPr lang="en-US" dirty="0" err="1"/>
              <a:t>Zipf’s</a:t>
            </a:r>
            <a:r>
              <a:rPr lang="en-US" dirty="0"/>
              <a:t> </a:t>
            </a:r>
            <a:r>
              <a:rPr lang="en-US" dirty="0" smtClean="0"/>
              <a:t>Law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Index Term Selection (</a:t>
            </a:r>
            <a:r>
              <a:rPr lang="en-US" dirty="0" err="1" smtClean="0"/>
              <a:t>Luhn’s</a:t>
            </a:r>
            <a:r>
              <a:rPr lang="en-US" dirty="0" smtClean="0"/>
              <a:t> Idea)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Inverted Indexing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Retrieval </a:t>
            </a:r>
            <a:r>
              <a:rPr lang="en-US" dirty="0"/>
              <a:t>with VSM (TF-IDF, Cosine </a:t>
            </a:r>
            <a:r>
              <a:rPr lang="en-US" dirty="0" smtClean="0"/>
              <a:t>Similarity)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GUI </a:t>
            </a:r>
            <a:r>
              <a:rPr lang="en-US" dirty="0"/>
              <a:t>for Query </a:t>
            </a:r>
            <a:r>
              <a:rPr lang="en-US" dirty="0" smtClean="0"/>
              <a:t>Input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/>
              <a:t>Corpus - </a:t>
            </a:r>
            <a:r>
              <a:rPr lang="en-US" dirty="0" smtClean="0"/>
              <a:t>17 </a:t>
            </a:r>
            <a:r>
              <a:rPr lang="en-US" dirty="0"/>
              <a:t>Amharic documents (AmharicBook1.txt to </a:t>
            </a:r>
            <a:r>
              <a:rPr lang="en-US" dirty="0" smtClean="0"/>
              <a:t>AmharicBook17.txt)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/>
              <a:t>Tools -</a:t>
            </a:r>
            <a:r>
              <a:rPr lang="en-US" dirty="0" smtClean="0"/>
              <a:t> </a:t>
            </a:r>
            <a:r>
              <a:rPr lang="en-US" dirty="0"/>
              <a:t>Python 3.9, </a:t>
            </a:r>
            <a:r>
              <a:rPr lang="en-US" dirty="0" err="1"/>
              <a:t>BeautifulSoup</a:t>
            </a:r>
            <a:r>
              <a:rPr lang="en-US" dirty="0"/>
              <a:t>,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scikit</a:t>
            </a:r>
            <a:r>
              <a:rPr lang="en-US" dirty="0"/>
              <a:t>-learn, </a:t>
            </a:r>
            <a:r>
              <a:rPr lang="en-US" dirty="0" err="1"/>
              <a:t>Matplotlib</a:t>
            </a:r>
            <a:r>
              <a:rPr lang="en-US" dirty="0"/>
              <a:t>, </a:t>
            </a:r>
            <a:r>
              <a:rPr lang="en-US" dirty="0" err="1"/>
              <a:t>Tkinter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0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Markup Removal:</a:t>
            </a:r>
            <a:r>
              <a:rPr lang="en-US" dirty="0"/>
              <a:t> Extracts plain text using </a:t>
            </a:r>
            <a:r>
              <a:rPr lang="en-US" dirty="0" err="1"/>
              <a:t>BeautifulSoup</a:t>
            </a:r>
            <a:r>
              <a:rPr lang="en-US" dirty="0"/>
              <a:t>; preserves Amharic </a:t>
            </a:r>
            <a:r>
              <a:rPr lang="en-US" dirty="0" smtClean="0"/>
              <a:t>Unicode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Normalization</a:t>
            </a:r>
            <a:r>
              <a:rPr lang="en-US" b="1" dirty="0"/>
              <a:t>:</a:t>
            </a:r>
            <a:r>
              <a:rPr lang="en-US" dirty="0"/>
              <a:t> Standardizes spelling, removes non-Amharic </a:t>
            </a:r>
            <a:r>
              <a:rPr lang="en-US" dirty="0" smtClean="0"/>
              <a:t>text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Tokenization</a:t>
            </a:r>
            <a:r>
              <a:rPr lang="en-US" b="1" dirty="0"/>
              <a:t>:</a:t>
            </a:r>
            <a:r>
              <a:rPr lang="en-US" dirty="0"/>
              <a:t> Splits text on spaces and separators (e.g., </a:t>
            </a:r>
            <a:r>
              <a:rPr lang="am-ET" dirty="0" smtClean="0"/>
              <a:t>፡)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b="1" dirty="0" err="1" smtClean="0"/>
              <a:t>Stopword</a:t>
            </a:r>
            <a:r>
              <a:rPr lang="en-US" b="1" dirty="0" smtClean="0"/>
              <a:t> </a:t>
            </a:r>
            <a:r>
              <a:rPr lang="en-US" b="1" dirty="0"/>
              <a:t>Removal:</a:t>
            </a:r>
            <a:r>
              <a:rPr lang="en-US" dirty="0"/>
              <a:t> Filters </a:t>
            </a:r>
            <a:r>
              <a:rPr lang="en-US" dirty="0" smtClean="0"/>
              <a:t>300–400 </a:t>
            </a:r>
            <a:r>
              <a:rPr lang="en-US" dirty="0" err="1"/>
              <a:t>stopwords</a:t>
            </a:r>
            <a:r>
              <a:rPr lang="en-US" dirty="0"/>
              <a:t> from </a:t>
            </a:r>
            <a:r>
              <a:rPr lang="en-US" dirty="0" smtClean="0"/>
              <a:t>file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Stemming</a:t>
            </a:r>
            <a:r>
              <a:rPr lang="en-US" b="1" dirty="0"/>
              <a:t>:</a:t>
            </a:r>
            <a:r>
              <a:rPr lang="en-US" dirty="0"/>
              <a:t> Rule-based stemming for prefixes/suffixes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2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Computes the frequency of each term across the corpus using </a:t>
            </a:r>
            <a:r>
              <a:rPr lang="en-US" dirty="0" err="1" smtClean="0"/>
              <a:t>collections.Counter</a:t>
            </a: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Generates a frequency dictionary, saved as Output/frequency.xlsx, showing word counts, ranks, and normalized frequencies</a:t>
            </a:r>
            <a:r>
              <a:rPr lang="en-US" dirty="0" smtClean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The rank-frequency plot indicates a </a:t>
            </a:r>
            <a:r>
              <a:rPr lang="en-US" dirty="0" err="1"/>
              <a:t>Zipfian</a:t>
            </a:r>
            <a:r>
              <a:rPr lang="en-US" dirty="0"/>
              <a:t> distribution, with the average rank-frequency product stabilizing around a constant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53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Frequency Analysis and </a:t>
            </a:r>
            <a:r>
              <a:rPr lang="en-US" dirty="0" err="1"/>
              <a:t>Zipf’s</a:t>
            </a:r>
            <a:r>
              <a:rPr lang="en-US" dirty="0"/>
              <a:t>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/>
              <a:t>Purpose - </a:t>
            </a:r>
            <a:r>
              <a:rPr lang="en-US" dirty="0" smtClean="0"/>
              <a:t>Understand </a:t>
            </a:r>
            <a:r>
              <a:rPr lang="en-US" dirty="0"/>
              <a:t>term distribution in the </a:t>
            </a:r>
            <a:r>
              <a:rPr lang="en-US" dirty="0" smtClean="0"/>
              <a:t>corpus</a:t>
            </a:r>
          </a:p>
          <a:p>
            <a:pPr>
              <a:buFont typeface="Wingdings" pitchFamily="2" charset="2"/>
              <a:buChar char="Ø"/>
            </a:pPr>
            <a:r>
              <a:rPr lang="en-US" b="1" dirty="0" err="1"/>
              <a:t>Zipf’s</a:t>
            </a:r>
            <a:r>
              <a:rPr lang="en-US" b="1" dirty="0"/>
              <a:t> </a:t>
            </a:r>
            <a:r>
              <a:rPr lang="en-US" b="1" dirty="0" smtClean="0"/>
              <a:t>law </a:t>
            </a:r>
            <a:r>
              <a:rPr lang="en-US" dirty="0" smtClean="0"/>
              <a:t>states few </a:t>
            </a:r>
            <a:r>
              <a:rPr lang="en-US" dirty="0"/>
              <a:t>terms dominate, many are </a:t>
            </a:r>
            <a:r>
              <a:rPr lang="en-US" dirty="0" smtClean="0"/>
              <a:t>rare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Implementation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collections.Counter</a:t>
            </a:r>
            <a:r>
              <a:rPr lang="en-US" dirty="0"/>
              <a:t> for </a:t>
            </a:r>
            <a:r>
              <a:rPr lang="en-US" dirty="0" smtClean="0"/>
              <a:t>frequencies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Output - </a:t>
            </a:r>
            <a:r>
              <a:rPr lang="en-US" dirty="0" smtClean="0"/>
              <a:t>Frequency </a:t>
            </a:r>
            <a:r>
              <a:rPr lang="en-US" dirty="0"/>
              <a:t>table (Excel), </a:t>
            </a:r>
            <a:r>
              <a:rPr lang="en-US" dirty="0" err="1"/>
              <a:t>Zipf</a:t>
            </a:r>
            <a:r>
              <a:rPr lang="en-US" dirty="0"/>
              <a:t> plot (</a:t>
            </a:r>
            <a:r>
              <a:rPr lang="en-US" dirty="0" smtClean="0"/>
              <a:t>PNG)</a:t>
            </a:r>
          </a:p>
          <a:p>
            <a:pPr>
              <a:buFont typeface="Wingdings" pitchFamily="2" charset="2"/>
              <a:buChar char="Ø"/>
            </a:pPr>
            <a:r>
              <a:rPr lang="en-US" b="1" dirty="0" err="1" smtClean="0"/>
              <a:t>Zipf’s</a:t>
            </a:r>
            <a:r>
              <a:rPr lang="en-US" b="1" dirty="0" smtClean="0"/>
              <a:t> Law -</a:t>
            </a:r>
            <a:r>
              <a:rPr lang="en-US" dirty="0" smtClean="0"/>
              <a:t> </a:t>
            </a:r>
            <a:r>
              <a:rPr lang="en-US" dirty="0"/>
              <a:t>Confirms </a:t>
            </a:r>
            <a:r>
              <a:rPr lang="en-US" dirty="0" smtClean="0"/>
              <a:t>Amharic texts follow power-law </a:t>
            </a:r>
            <a:r>
              <a:rPr lang="en-US" dirty="0" smtClean="0"/>
              <a:t>behavior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21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Zipf</a:t>
            </a:r>
            <a:r>
              <a:rPr lang="en-US" dirty="0"/>
              <a:t> plot image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622512"/>
            <a:ext cx="7620000" cy="475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109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Index Term Selection Using </a:t>
            </a:r>
            <a:r>
              <a:rPr lang="en-US" sz="3600" b="1" dirty="0" err="1"/>
              <a:t>Luhn’s</a:t>
            </a:r>
            <a:r>
              <a:rPr lang="en-US" sz="3600" b="1" dirty="0"/>
              <a:t> Idea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Filters very frequent/rare terms (indexing.py</a:t>
            </a:r>
            <a:r>
              <a:rPr lang="en-US" dirty="0" smtClean="0"/>
              <a:t>).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Upper </a:t>
            </a:r>
            <a:r>
              <a:rPr lang="en-US" dirty="0"/>
              <a:t>Cut-off: Top </a:t>
            </a:r>
            <a:r>
              <a:rPr lang="en-US" dirty="0" smtClean="0"/>
              <a:t>3%.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Lower </a:t>
            </a:r>
            <a:r>
              <a:rPr lang="en-US" dirty="0"/>
              <a:t>Cut-off: </a:t>
            </a:r>
            <a:r>
              <a:rPr lang="en-US" dirty="0" smtClean="0"/>
              <a:t>frequency of term&lt;3 in docs</a:t>
            </a:r>
          </a:p>
          <a:p>
            <a:pPr>
              <a:buFont typeface="Wingdings" pitchFamily="2" charset="2"/>
              <a:buChar char="v"/>
            </a:pPr>
            <a:r>
              <a:rPr lang="en-US" b="1" dirty="0" err="1"/>
              <a:t>Luhn’s</a:t>
            </a:r>
            <a:r>
              <a:rPr lang="en-US" b="1" dirty="0"/>
              <a:t> </a:t>
            </a:r>
            <a:r>
              <a:rPr lang="en-US" b="1" dirty="0" smtClean="0"/>
              <a:t>Idea:</a:t>
            </a:r>
            <a:r>
              <a:rPr lang="en-US" dirty="0" smtClean="0"/>
              <a:t> mid-frequency </a:t>
            </a:r>
            <a:r>
              <a:rPr lang="en-US" dirty="0"/>
              <a:t>terms </a:t>
            </a:r>
            <a:r>
              <a:rPr lang="en-US" dirty="0" smtClean="0"/>
              <a:t>are discriminative</a:t>
            </a:r>
            <a:r>
              <a:rPr lang="en-US" dirty="0"/>
              <a:t> </a:t>
            </a:r>
            <a:r>
              <a:rPr lang="en-US" dirty="0" smtClean="0"/>
              <a:t>and keep them.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Outputs: Index/index_terms.txt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41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Indexing File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b="1" dirty="0"/>
              <a:t>Inverted Index </a:t>
            </a:r>
            <a:r>
              <a:rPr lang="en-US" b="1" dirty="0" smtClean="0"/>
              <a:t>- </a:t>
            </a:r>
            <a:r>
              <a:rPr lang="en-US" dirty="0" smtClean="0"/>
              <a:t>Maps </a:t>
            </a:r>
            <a:r>
              <a:rPr lang="en-US" dirty="0"/>
              <a:t>terms to documents with TF </a:t>
            </a:r>
            <a:r>
              <a:rPr lang="en-US" dirty="0" smtClean="0"/>
              <a:t>weights.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/>
              <a:t>inverted index’s </a:t>
            </a:r>
            <a:r>
              <a:rPr lang="en-US" dirty="0" smtClean="0"/>
              <a:t>helps </a:t>
            </a:r>
            <a:r>
              <a:rPr lang="en-US" dirty="0"/>
              <a:t>in quick </a:t>
            </a:r>
            <a:r>
              <a:rPr lang="en-US" dirty="0" smtClean="0"/>
              <a:t>searching.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 smtClean="0"/>
              <a:t>Structure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/>
              <a:t>term → {</a:t>
            </a:r>
            <a:r>
              <a:rPr lang="en-US" dirty="0" err="1"/>
              <a:t>doc_id</a:t>
            </a:r>
            <a:r>
              <a:rPr lang="en-US" dirty="0"/>
              <a:t>: TF} (indexing.py</a:t>
            </a:r>
            <a:r>
              <a:rPr lang="en-US" dirty="0" smtClean="0"/>
              <a:t>).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 smtClean="0"/>
              <a:t>Files - </a:t>
            </a:r>
            <a:r>
              <a:rPr lang="en-US" dirty="0" err="1" smtClean="0"/>
              <a:t>inverted_index.json</a:t>
            </a:r>
            <a:r>
              <a:rPr lang="en-US" dirty="0"/>
              <a:t>, </a:t>
            </a:r>
            <a:r>
              <a:rPr lang="en-US" dirty="0" err="1" smtClean="0"/>
              <a:t>term_frequencies.json</a:t>
            </a:r>
            <a:r>
              <a:rPr lang="en-US" dirty="0" smtClean="0"/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en-US" b="1" dirty="0" smtClean="0"/>
              <a:t>Output</a:t>
            </a:r>
            <a:r>
              <a:rPr lang="en-US" b="1" dirty="0"/>
              <a:t>:</a:t>
            </a:r>
            <a:r>
              <a:rPr lang="en-US" dirty="0"/>
              <a:t> index_terms.txt, </a:t>
            </a:r>
            <a:r>
              <a:rPr lang="en-US" dirty="0" err="1"/>
              <a:t>vocabulary.json</a:t>
            </a:r>
            <a:r>
              <a:rPr lang="en-US" dirty="0"/>
              <a:t>, </a:t>
            </a:r>
            <a:r>
              <a:rPr lang="en-US" dirty="0" err="1" smtClean="0"/>
              <a:t>postings.json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15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Retrieval Model(VSM)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 smtClean="0"/>
              <a:t>Model - </a:t>
            </a:r>
            <a:r>
              <a:rPr lang="en-US" dirty="0" smtClean="0"/>
              <a:t>Vector </a:t>
            </a:r>
            <a:r>
              <a:rPr lang="en-US" dirty="0"/>
              <a:t>Space Model with TF-IDF and cosine </a:t>
            </a:r>
            <a:r>
              <a:rPr lang="en-US" dirty="0" smtClean="0"/>
              <a:t>similarity</a:t>
            </a:r>
          </a:p>
          <a:p>
            <a:pPr>
              <a:buFont typeface="Wingdings" pitchFamily="2" charset="2"/>
              <a:buChar char="v"/>
            </a:pPr>
            <a:r>
              <a:rPr lang="en-US" b="1" dirty="0" smtClean="0"/>
              <a:t>Process</a:t>
            </a:r>
            <a:r>
              <a:rPr lang="en-US" b="1" dirty="0"/>
              <a:t>:</a:t>
            </a:r>
            <a:endParaRPr lang="en-US" dirty="0"/>
          </a:p>
          <a:p>
            <a:pPr lvl="1">
              <a:buFont typeface="Wingdings" pitchFamily="2" charset="2"/>
              <a:buChar char="Ø"/>
            </a:pPr>
            <a:r>
              <a:rPr lang="en-US" dirty="0"/>
              <a:t>Convert query/documents to TF-IDF </a:t>
            </a:r>
            <a:r>
              <a:rPr lang="en-US" dirty="0" smtClean="0"/>
              <a:t>vectors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Compute </a:t>
            </a:r>
            <a:r>
              <a:rPr lang="en-US" dirty="0"/>
              <a:t>cosine </a:t>
            </a:r>
            <a:r>
              <a:rPr lang="en-US" dirty="0" smtClean="0"/>
              <a:t>similarity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Ranks documents by query relevance </a:t>
            </a:r>
            <a:endParaRPr lang="en-US" dirty="0"/>
          </a:p>
          <a:p>
            <a:pPr marL="514350" indent="-457200">
              <a:buFont typeface="Wingdings" pitchFamily="2" charset="2"/>
              <a:buChar char="v"/>
            </a:pPr>
            <a:r>
              <a:rPr lang="en-US" b="1" dirty="0" smtClean="0"/>
              <a:t>Evaluation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dirty="0" smtClean="0"/>
              <a:t>Measuring </a:t>
            </a:r>
            <a:r>
              <a:rPr lang="en-US" dirty="0"/>
              <a:t>System </a:t>
            </a:r>
            <a:r>
              <a:rPr lang="en-US" dirty="0" smtClean="0"/>
              <a:t>Performance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dirty="0" smtClean="0"/>
              <a:t>Precision, </a:t>
            </a:r>
            <a:r>
              <a:rPr lang="en-US" dirty="0"/>
              <a:t>recall, F1-score using </a:t>
            </a:r>
            <a:r>
              <a:rPr lang="en-US" dirty="0" err="1"/>
              <a:t>scikit</a:t>
            </a:r>
            <a:r>
              <a:rPr lang="en-US" dirty="0"/>
              <a:t>-learn</a:t>
            </a:r>
          </a:p>
          <a:p>
            <a:pPr marL="914400" lvl="1" indent="-457200">
              <a:buFont typeface="Wingdings" pitchFamily="2" charset="2"/>
              <a:buChar char="Ø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4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Graphical User Interface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/>
              <a:t>User-Friendly Search Interface</a:t>
            </a:r>
            <a:endParaRPr lang="en-US" b="1" dirty="0" smtClean="0"/>
          </a:p>
          <a:p>
            <a:pPr>
              <a:buFont typeface="Wingdings" pitchFamily="2" charset="2"/>
              <a:buChar char="v"/>
            </a:pPr>
            <a:r>
              <a:rPr lang="en-US" b="1" dirty="0" smtClean="0"/>
              <a:t>Tool -</a:t>
            </a:r>
            <a:r>
              <a:rPr lang="en-US" dirty="0" smtClean="0"/>
              <a:t> </a:t>
            </a:r>
            <a:r>
              <a:rPr lang="en-US" dirty="0"/>
              <a:t>Built with </a:t>
            </a:r>
            <a:r>
              <a:rPr lang="en-US" dirty="0" err="1"/>
              <a:t>T</a:t>
            </a:r>
            <a:r>
              <a:rPr lang="en-US" dirty="0" err="1" smtClean="0"/>
              <a:t>kinter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/>
              <a:t>Uses </a:t>
            </a:r>
            <a:r>
              <a:rPr lang="en-US" dirty="0" err="1"/>
              <a:t>Nyala</a:t>
            </a:r>
            <a:r>
              <a:rPr lang="en-US" dirty="0"/>
              <a:t> font for Amharic text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b="1" dirty="0" smtClean="0"/>
              <a:t>Features</a:t>
            </a:r>
            <a:r>
              <a:rPr lang="en-US" b="1" dirty="0"/>
              <a:t>:</a:t>
            </a:r>
            <a:endParaRPr lang="en-US" dirty="0"/>
          </a:p>
          <a:p>
            <a:pPr lvl="1">
              <a:buFont typeface="Wingdings" pitchFamily="2" charset="2"/>
              <a:buChar char="Ø"/>
            </a:pPr>
            <a:r>
              <a:rPr lang="en-US" dirty="0"/>
              <a:t>Amharic query </a:t>
            </a:r>
            <a:r>
              <a:rPr lang="en-US" dirty="0" smtClean="0"/>
              <a:t>input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Input validation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Results </a:t>
            </a:r>
            <a:r>
              <a:rPr lang="en-US" dirty="0"/>
              <a:t>display with scores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41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Applications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b="1" dirty="0" smtClean="0"/>
              <a:t>Education - </a:t>
            </a:r>
            <a:r>
              <a:rPr lang="en-US" dirty="0"/>
              <a:t>Search Amharic </a:t>
            </a:r>
            <a:r>
              <a:rPr lang="en-US" dirty="0" smtClean="0"/>
              <a:t>textbooks.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/>
              <a:t>Media</a:t>
            </a:r>
            <a:r>
              <a:rPr lang="en-US" b="1" dirty="0"/>
              <a:t> </a:t>
            </a:r>
            <a:r>
              <a:rPr lang="en-US" b="1" dirty="0" smtClean="0"/>
              <a:t>- </a:t>
            </a:r>
            <a:r>
              <a:rPr lang="en-US" dirty="0"/>
              <a:t>Retrieve news </a:t>
            </a:r>
            <a:r>
              <a:rPr lang="en-US" dirty="0" smtClean="0"/>
              <a:t>articles.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/>
              <a:t>Government - </a:t>
            </a:r>
            <a:r>
              <a:rPr lang="en-US" dirty="0"/>
              <a:t>Access Amharic </a:t>
            </a:r>
            <a:r>
              <a:rPr lang="en-US" dirty="0" smtClean="0"/>
              <a:t>records.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/>
              <a:t>Digital </a:t>
            </a:r>
            <a:r>
              <a:rPr lang="en-US" b="1" dirty="0"/>
              <a:t>archives </a:t>
            </a:r>
            <a:r>
              <a:rPr lang="en-US" dirty="0" smtClean="0"/>
              <a:t>-Scalable </a:t>
            </a:r>
            <a:r>
              <a:rPr lang="en-US" dirty="0"/>
              <a:t>to large digital </a:t>
            </a:r>
            <a:r>
              <a:rPr lang="en-US" dirty="0" smtClean="0"/>
              <a:t>archives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Applicable  in libraries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and Solutions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/>
              <a:t>Limited Resources:</a:t>
            </a:r>
            <a:endParaRPr lang="en-US" dirty="0"/>
          </a:p>
          <a:p>
            <a:pPr lvl="1">
              <a:buFont typeface="Wingdings" pitchFamily="2" charset="2"/>
              <a:buChar char="Ø"/>
            </a:pPr>
            <a:r>
              <a:rPr lang="en-US" dirty="0"/>
              <a:t>Challenge: Few </a:t>
            </a:r>
            <a:r>
              <a:rPr lang="en-US" dirty="0" err="1"/>
              <a:t>stopword</a:t>
            </a:r>
            <a:r>
              <a:rPr lang="en-US" dirty="0"/>
              <a:t> lists or </a:t>
            </a:r>
            <a:r>
              <a:rPr lang="en-US" dirty="0" smtClean="0"/>
              <a:t>stemmers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Solution</a:t>
            </a:r>
            <a:r>
              <a:rPr lang="en-US" dirty="0"/>
              <a:t>: Custom </a:t>
            </a:r>
            <a:r>
              <a:rPr lang="en-US" dirty="0" err="1"/>
              <a:t>stopwords</a:t>
            </a:r>
            <a:r>
              <a:rPr lang="en-US" dirty="0"/>
              <a:t>, rule-based stemmer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Morphology:</a:t>
            </a:r>
            <a:endParaRPr lang="en-US" dirty="0"/>
          </a:p>
          <a:p>
            <a:pPr lvl="1">
              <a:buFont typeface="Wingdings" pitchFamily="2" charset="2"/>
              <a:buChar char="Ø"/>
            </a:pPr>
            <a:r>
              <a:rPr lang="en-US" dirty="0"/>
              <a:t>Challenge: Over-/</a:t>
            </a:r>
            <a:r>
              <a:rPr lang="en-US" dirty="0" smtClean="0"/>
              <a:t>under-stemming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Solution</a:t>
            </a:r>
            <a:r>
              <a:rPr lang="en-US" dirty="0"/>
              <a:t>: Affix removal with validation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Unicode Issues:</a:t>
            </a:r>
            <a:endParaRPr lang="en-US" dirty="0"/>
          </a:p>
          <a:p>
            <a:pPr lvl="1">
              <a:buFont typeface="Wingdings" pitchFamily="2" charset="2"/>
              <a:buChar char="Ø"/>
            </a:pPr>
            <a:r>
              <a:rPr lang="en-US" dirty="0"/>
              <a:t>Challenge: Encoding </a:t>
            </a:r>
            <a:r>
              <a:rPr lang="en-US" dirty="0" smtClean="0"/>
              <a:t>inconsistencies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Solution</a:t>
            </a:r>
            <a:r>
              <a:rPr lang="en-US" dirty="0"/>
              <a:t>: Enforced UTF-8, </a:t>
            </a:r>
            <a:r>
              <a:rPr lang="en-US" dirty="0" err="1"/>
              <a:t>Nyala</a:t>
            </a:r>
            <a:r>
              <a:rPr lang="en-US" dirty="0"/>
              <a:t> font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Small Corpus:</a:t>
            </a:r>
            <a:endParaRPr lang="en-US" dirty="0"/>
          </a:p>
          <a:p>
            <a:pPr lvl="1">
              <a:buFont typeface="Wingdings" pitchFamily="2" charset="2"/>
              <a:buChar char="Ø"/>
            </a:pPr>
            <a:r>
              <a:rPr lang="en-US" dirty="0"/>
              <a:t>Challenge: Only 17 </a:t>
            </a:r>
            <a:r>
              <a:rPr lang="en-US" dirty="0" smtClean="0"/>
              <a:t>docs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Solution</a:t>
            </a:r>
            <a:r>
              <a:rPr lang="en-US" dirty="0"/>
              <a:t>: Designed for scalability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97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Python 3.9, libraries: beautifulsoup4,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 smtClean="0"/>
              <a:t>tkinter</a:t>
            </a:r>
            <a:r>
              <a:rPr lang="en-US" dirty="0" smtClean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Environment</a:t>
            </a:r>
            <a:r>
              <a:rPr lang="en-US" dirty="0"/>
              <a:t>: VS Code, </a:t>
            </a:r>
            <a:r>
              <a:rPr lang="en-US" dirty="0" smtClean="0"/>
              <a:t>Anaconda.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Inputs</a:t>
            </a:r>
            <a:r>
              <a:rPr lang="en-US" dirty="0"/>
              <a:t>: stopwords.txt, Input </a:t>
            </a:r>
            <a:r>
              <a:rPr lang="en-US" dirty="0" smtClean="0"/>
              <a:t>corpus.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Outputs</a:t>
            </a:r>
            <a:r>
              <a:rPr lang="en-US" dirty="0"/>
              <a:t>: frequency.xlsx, </a:t>
            </a:r>
            <a:r>
              <a:rPr lang="en-US" dirty="0" err="1" smtClean="0"/>
              <a:t>inverted_index.json</a:t>
            </a:r>
            <a:r>
              <a:rPr lang="en-US" dirty="0" smtClean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Python</a:t>
            </a:r>
            <a:r>
              <a:rPr lang="en-US" dirty="0"/>
              <a:t>, VS Code, </a:t>
            </a:r>
            <a:r>
              <a:rPr lang="en-US" dirty="0" smtClean="0"/>
              <a:t>Anaconda.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Folder </a:t>
            </a:r>
            <a:r>
              <a:rPr lang="en-US" dirty="0"/>
              <a:t>for inputs, file for outputs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37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Built Amharic IR system using VSM + TF-IDF + cosine </a:t>
            </a:r>
            <a:r>
              <a:rPr lang="en-US" dirty="0" smtClean="0"/>
              <a:t>similarity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Handled </a:t>
            </a:r>
            <a:r>
              <a:rPr lang="en-US" dirty="0"/>
              <a:t>linguistic challenges with custom </a:t>
            </a:r>
            <a:r>
              <a:rPr lang="en-US" dirty="0" smtClean="0"/>
              <a:t>preprocessing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Verified </a:t>
            </a:r>
            <a:r>
              <a:rPr lang="en-US" dirty="0" err="1"/>
              <a:t>Zipf’s</a:t>
            </a:r>
            <a:r>
              <a:rPr lang="en-US" dirty="0"/>
              <a:t> law on Amharic </a:t>
            </a:r>
            <a:r>
              <a:rPr lang="en-US" dirty="0" smtClean="0"/>
              <a:t>corpus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Future </a:t>
            </a:r>
            <a:r>
              <a:rPr lang="en-US" b="1" dirty="0"/>
              <a:t>Work:</a:t>
            </a:r>
            <a:r>
              <a:rPr lang="en-US" dirty="0"/>
              <a:t> Improve stemming, add query expansion, scale to 1,000+ </a:t>
            </a:r>
            <a:r>
              <a:rPr lang="en-US" dirty="0" smtClean="0"/>
              <a:t>docs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Impact</a:t>
            </a:r>
            <a:r>
              <a:rPr lang="en-US" b="1" dirty="0"/>
              <a:t>:</a:t>
            </a:r>
            <a:r>
              <a:rPr lang="en-US" dirty="0"/>
              <a:t> Foundation for Amharic IR in academia and archiving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18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Acknowledgement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b="1" dirty="0" smtClean="0"/>
              <a:t> </a:t>
            </a:r>
            <a:r>
              <a:rPr lang="en-US" dirty="0"/>
              <a:t>Special thanks </a:t>
            </a:r>
            <a:r>
              <a:rPr lang="en-US" dirty="0" smtClean="0"/>
              <a:t>to Instructor  </a:t>
            </a:r>
            <a:r>
              <a:rPr lang="en-US" b="1" dirty="0" err="1"/>
              <a:t>Adey</a:t>
            </a:r>
            <a:r>
              <a:rPr lang="en-US" dirty="0"/>
              <a:t> for inspiring </a:t>
            </a:r>
            <a:r>
              <a:rPr lang="en-US" dirty="0" smtClean="0"/>
              <a:t> me to do this project.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 smtClean="0"/>
              <a:t>Gratitude to AAU for institutional resources </a:t>
            </a:r>
            <a:r>
              <a:rPr lang="en-US" dirty="0"/>
              <a:t>and </a:t>
            </a:r>
            <a:r>
              <a:rPr lang="en-US" dirty="0" smtClean="0"/>
              <a:t>tools(</a:t>
            </a:r>
            <a:r>
              <a:rPr lang="en-US" dirty="0" err="1" smtClean="0"/>
              <a:t>wifi</a:t>
            </a:r>
            <a:r>
              <a:rPr lang="en-US" dirty="0" smtClean="0"/>
              <a:t>..)</a:t>
            </a:r>
            <a:endParaRPr lang="en-US" dirty="0"/>
          </a:p>
          <a:p>
            <a:pPr lvl="0">
              <a:buFont typeface="Wingdings" pitchFamily="2" charset="2"/>
              <a:buChar char="Ø"/>
            </a:pPr>
            <a:r>
              <a:rPr lang="en-US" dirty="0" smtClean="0"/>
              <a:t>Appreciation </a:t>
            </a:r>
            <a:r>
              <a:rPr lang="en-US" dirty="0"/>
              <a:t>for open-source tools (Python, </a:t>
            </a:r>
            <a:r>
              <a:rPr lang="en-US" dirty="0" smtClean="0"/>
              <a:t>libraries)</a:t>
            </a:r>
          </a:p>
          <a:p>
            <a:pPr marL="0" lv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           </a:t>
            </a:r>
          </a:p>
          <a:p>
            <a:pPr marL="0" lv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                             END</a:t>
            </a:r>
            <a:endParaRPr lang="en-US" b="1" dirty="0" smtClean="0"/>
          </a:p>
          <a:p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                    Thank </a:t>
            </a:r>
            <a:r>
              <a:rPr lang="en-US" b="1" dirty="0"/>
              <a:t>you!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             </a:t>
            </a:r>
            <a:r>
              <a:rPr lang="en-US" i="1" dirty="0" smtClean="0"/>
              <a:t>Questions</a:t>
            </a:r>
            <a:r>
              <a:rPr lang="en-US" i="1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44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143</TotalTime>
  <Words>751</Words>
  <Application>Microsoft Office PowerPoint</Application>
  <PresentationFormat>On-screen Show (4:3)</PresentationFormat>
  <Paragraphs>122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Adjacency</vt:lpstr>
      <vt:lpstr>Project</vt:lpstr>
      <vt:lpstr>Outline</vt:lpstr>
      <vt:lpstr>Introduction</vt:lpstr>
      <vt:lpstr>Why This System is Needed</vt:lpstr>
      <vt:lpstr>System Architecture</vt:lpstr>
      <vt:lpstr>Text Preprocessing</vt:lpstr>
      <vt:lpstr>Statistical Analysis</vt:lpstr>
      <vt:lpstr>Frequency Analysis and Zipf’s Law</vt:lpstr>
      <vt:lpstr>Zipf plot image</vt:lpstr>
      <vt:lpstr>Index Term Selection Using Luhn’s Idea</vt:lpstr>
      <vt:lpstr>Indexing File</vt:lpstr>
      <vt:lpstr>Retrieval Model(VSM)</vt:lpstr>
      <vt:lpstr>Graphical User Interface </vt:lpstr>
      <vt:lpstr>Real-World Applications</vt:lpstr>
      <vt:lpstr>Challenges and Solutions</vt:lpstr>
      <vt:lpstr>Tools Used</vt:lpstr>
      <vt:lpstr>Conclusion</vt:lpstr>
      <vt:lpstr>Acknowledgement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Amharic Information Retrieval System</dc:title>
  <dc:creator>HP</dc:creator>
  <cp:lastModifiedBy>HP</cp:lastModifiedBy>
  <cp:revision>16</cp:revision>
  <dcterms:created xsi:type="dcterms:W3CDTF">2006-08-16T00:00:00Z</dcterms:created>
  <dcterms:modified xsi:type="dcterms:W3CDTF">2025-06-15T23:16:59Z</dcterms:modified>
</cp:coreProperties>
</file>